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Inter" panose="020B0604020202020204" charset="0"/>
      <p:regular r:id="rId8"/>
    </p:embeddedFont>
    <p:embeddedFont>
      <p:font typeface="Inter Bold" panose="020B0604020202020204" charset="0"/>
      <p:regular r:id="rId9"/>
    </p:embeddedFont>
    <p:embeddedFont>
      <p:font typeface="Inter Medium" panose="020B0604020202020204" charset="0"/>
      <p:regular r:id="rId10"/>
    </p:embeddedFont>
    <p:embeddedFont>
      <p:font typeface="Poppins" panose="00000500000000000000" pitchFamily="2" charset="0"/>
      <p:regular r:id="rId11"/>
    </p:embeddedFont>
    <p:embeddedFont>
      <p:font typeface="Poppins Bold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39" d="100"/>
          <a:sy n="39" d="100"/>
        </p:scale>
        <p:origin x="940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5" Type="http://schemas.openxmlformats.org/officeDocument/2006/relationships/image" Target="../media/image2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Relationship Id="rId14" Type="http://schemas.openxmlformats.org/officeDocument/2006/relationships/image" Target="../media/image2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12" Type="http://schemas.openxmlformats.org/officeDocument/2006/relationships/image" Target="../media/image39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5" Type="http://schemas.openxmlformats.org/officeDocument/2006/relationships/image" Target="../media/image32.pn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311110" y="852695"/>
            <a:ext cx="8061158" cy="9434305"/>
          </a:xfrm>
          <a:custGeom>
            <a:avLst/>
            <a:gdLst/>
            <a:ahLst/>
            <a:cxnLst/>
            <a:rect l="l" t="t" r="r" b="b"/>
            <a:pathLst>
              <a:path w="8061158" h="9434305">
                <a:moveTo>
                  <a:pt x="0" y="0"/>
                </a:moveTo>
                <a:lnTo>
                  <a:pt x="8061158" y="0"/>
                </a:lnTo>
                <a:lnTo>
                  <a:pt x="8061158" y="9434305"/>
                </a:lnTo>
                <a:lnTo>
                  <a:pt x="0" y="94343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2403464" y="5356674"/>
            <a:ext cx="4145426" cy="4077631"/>
          </a:xfrm>
          <a:custGeom>
            <a:avLst/>
            <a:gdLst/>
            <a:ahLst/>
            <a:cxnLst/>
            <a:rect l="l" t="t" r="r" b="b"/>
            <a:pathLst>
              <a:path w="4145426" h="4077631">
                <a:moveTo>
                  <a:pt x="0" y="0"/>
                </a:moveTo>
                <a:lnTo>
                  <a:pt x="4145426" y="0"/>
                </a:lnTo>
                <a:lnTo>
                  <a:pt x="4145426" y="4077631"/>
                </a:lnTo>
                <a:lnTo>
                  <a:pt x="0" y="407763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892622" y="6209369"/>
            <a:ext cx="1093780" cy="2798589"/>
          </a:xfrm>
          <a:custGeom>
            <a:avLst/>
            <a:gdLst/>
            <a:ahLst/>
            <a:cxnLst/>
            <a:rect l="l" t="t" r="r" b="b"/>
            <a:pathLst>
              <a:path w="1093780" h="2798589">
                <a:moveTo>
                  <a:pt x="0" y="0"/>
                </a:moveTo>
                <a:lnTo>
                  <a:pt x="1093780" y="0"/>
                </a:lnTo>
                <a:lnTo>
                  <a:pt x="1093780" y="2798588"/>
                </a:lnTo>
                <a:lnTo>
                  <a:pt x="0" y="27985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756708" y="6635716"/>
            <a:ext cx="1531292" cy="2579949"/>
          </a:xfrm>
          <a:custGeom>
            <a:avLst/>
            <a:gdLst/>
            <a:ahLst/>
            <a:cxnLst/>
            <a:rect l="l" t="t" r="r" b="b"/>
            <a:pathLst>
              <a:path w="1531292" h="2579949">
                <a:moveTo>
                  <a:pt x="0" y="0"/>
                </a:moveTo>
                <a:lnTo>
                  <a:pt x="1531292" y="0"/>
                </a:lnTo>
                <a:lnTo>
                  <a:pt x="1531292" y="2579949"/>
                </a:lnTo>
                <a:lnTo>
                  <a:pt x="0" y="257994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5017598" y="8997026"/>
            <a:ext cx="3270402" cy="1289974"/>
          </a:xfrm>
          <a:custGeom>
            <a:avLst/>
            <a:gdLst/>
            <a:ahLst/>
            <a:cxnLst/>
            <a:rect l="l" t="t" r="r" b="b"/>
            <a:pathLst>
              <a:path w="3270402" h="1289974">
                <a:moveTo>
                  <a:pt x="0" y="0"/>
                </a:moveTo>
                <a:lnTo>
                  <a:pt x="3270402" y="0"/>
                </a:lnTo>
                <a:lnTo>
                  <a:pt x="3270402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768096" y="1183194"/>
            <a:ext cx="5650992" cy="19537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744"/>
              </a:lnSpc>
            </a:pPr>
            <a:r>
              <a:rPr lang="en-US" sz="13744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CRISIS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68096" y="2733584"/>
            <a:ext cx="4608576" cy="1980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26"/>
              </a:lnSpc>
            </a:pPr>
            <a:r>
              <a:rPr lang="en-US" sz="13926" b="1">
                <a:solidFill>
                  <a:srgbClr val="B61A1A"/>
                </a:solidFill>
                <a:latin typeface="Poppins Bold"/>
                <a:ea typeface="Poppins Bold"/>
                <a:cs typeface="Poppins Bold"/>
                <a:sym typeface="Poppins Bold"/>
              </a:rPr>
              <a:t>DESK</a:t>
            </a:r>
          </a:p>
        </p:txBody>
      </p:sp>
      <p:sp>
        <p:nvSpPr>
          <p:cNvPr id="10" name="Freeform 10"/>
          <p:cNvSpPr/>
          <p:nvPr/>
        </p:nvSpPr>
        <p:spPr>
          <a:xfrm>
            <a:off x="645330" y="4493047"/>
            <a:ext cx="1750048" cy="229572"/>
          </a:xfrm>
          <a:custGeom>
            <a:avLst/>
            <a:gdLst/>
            <a:ahLst/>
            <a:cxnLst/>
            <a:rect l="l" t="t" r="r" b="b"/>
            <a:pathLst>
              <a:path w="1750048" h="229572">
                <a:moveTo>
                  <a:pt x="0" y="0"/>
                </a:moveTo>
                <a:lnTo>
                  <a:pt x="1750048" y="0"/>
                </a:lnTo>
                <a:lnTo>
                  <a:pt x="1750048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841248" y="4977578"/>
            <a:ext cx="5559552" cy="9403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22"/>
              </a:lnSpc>
            </a:pPr>
            <a:r>
              <a:rPr lang="en-US" sz="297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Real-time incident management for live events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41248" y="6328328"/>
            <a:ext cx="5559552" cy="13454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86"/>
              </a:lnSpc>
            </a:pPr>
            <a:r>
              <a:rPr lang="en-US" sz="2869" b="1" spc="286">
                <a:solidFill>
                  <a:srgbClr val="B61A1A"/>
                </a:solidFill>
                <a:latin typeface="Inter Medium"/>
                <a:ea typeface="Inter Medium"/>
                <a:cs typeface="Inter Medium"/>
                <a:sym typeface="Inter Medium"/>
              </a:rPr>
              <a:t>ADAPT FAST. STAY CALM. NEVER LOSE CONTROL OF AN EVENT AGAIN.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41248" y="8191149"/>
            <a:ext cx="4169664" cy="11284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89"/>
              </a:lnSpc>
            </a:pPr>
            <a:r>
              <a:rPr lang="en-US" sz="239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Built for event teams</a:t>
            </a:r>
          </a:p>
          <a:p>
            <a:pPr algn="l">
              <a:lnSpc>
                <a:spcPts val="2989"/>
              </a:lnSpc>
            </a:pPr>
            <a:r>
              <a:rPr lang="en-US" sz="239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who need to react instantly when things go wrong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7612708" y="852695"/>
            <a:ext cx="7853340" cy="9434305"/>
          </a:xfrm>
          <a:custGeom>
            <a:avLst/>
            <a:gdLst/>
            <a:ahLst/>
            <a:cxnLst/>
            <a:rect l="l" t="t" r="r" b="b"/>
            <a:pathLst>
              <a:path w="7853340" h="9434305">
                <a:moveTo>
                  <a:pt x="0" y="0"/>
                </a:moveTo>
                <a:lnTo>
                  <a:pt x="7853340" y="0"/>
                </a:lnTo>
                <a:lnTo>
                  <a:pt x="7853340" y="9434305"/>
                </a:lnTo>
                <a:lnTo>
                  <a:pt x="0" y="94343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676656" y="443879"/>
            <a:ext cx="2560320" cy="1830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295"/>
              </a:lnSpc>
            </a:pPr>
            <a:r>
              <a:rPr lang="en-US" sz="10211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THE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86384" y="1657745"/>
            <a:ext cx="6272784" cy="1830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295"/>
              </a:lnSpc>
            </a:pPr>
            <a:r>
              <a:rPr lang="en-US" sz="10211" b="1">
                <a:solidFill>
                  <a:srgbClr val="C91414"/>
                </a:solidFill>
                <a:latin typeface="Poppins Bold"/>
                <a:ea typeface="Poppins Bold"/>
                <a:cs typeface="Poppins Bold"/>
                <a:sym typeface="Poppins Bold"/>
              </a:rPr>
              <a:t>PROBLEM</a:t>
            </a:r>
          </a:p>
        </p:txBody>
      </p:sp>
      <p:sp>
        <p:nvSpPr>
          <p:cNvPr id="6" name="Freeform 6"/>
          <p:cNvSpPr/>
          <p:nvPr/>
        </p:nvSpPr>
        <p:spPr>
          <a:xfrm>
            <a:off x="645330" y="3421712"/>
            <a:ext cx="1750048" cy="437279"/>
          </a:xfrm>
          <a:custGeom>
            <a:avLst/>
            <a:gdLst/>
            <a:ahLst/>
            <a:cxnLst/>
            <a:rect l="l" t="t" r="r" b="b"/>
            <a:pathLst>
              <a:path w="1750048" h="437279">
                <a:moveTo>
                  <a:pt x="0" y="0"/>
                </a:moveTo>
                <a:lnTo>
                  <a:pt x="1750048" y="0"/>
                </a:lnTo>
                <a:lnTo>
                  <a:pt x="1750048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877824" y="4010780"/>
            <a:ext cx="6364224" cy="7982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Incidents are inevitable at live events missing speakers, AV failures, logistics issues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77824" y="5162924"/>
            <a:ext cx="4864608" cy="7982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No centralized way to log, assign, and track incidents in real time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77824" y="6304781"/>
            <a:ext cx="5559552" cy="7982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Slow, chaotic communication between field staff and event leads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77824" y="7477499"/>
            <a:ext cx="4498848" cy="7982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Field staff rely on basic phones with poor connectivity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77824" y="8660504"/>
            <a:ext cx="4572000" cy="7982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No audit trail of what happened and how it was resolved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487732" y="852695"/>
            <a:ext cx="9800268" cy="8581610"/>
          </a:xfrm>
          <a:custGeom>
            <a:avLst/>
            <a:gdLst/>
            <a:ahLst/>
            <a:cxnLst/>
            <a:rect l="l" t="t" r="r" b="b"/>
            <a:pathLst>
              <a:path w="9800268" h="8581610">
                <a:moveTo>
                  <a:pt x="0" y="0"/>
                </a:moveTo>
                <a:lnTo>
                  <a:pt x="9800268" y="0"/>
                </a:lnTo>
                <a:lnTo>
                  <a:pt x="9800268" y="8581610"/>
                </a:lnTo>
                <a:lnTo>
                  <a:pt x="0" y="85816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580086" y="4493047"/>
            <a:ext cx="3500096" cy="5159898"/>
          </a:xfrm>
          <a:custGeom>
            <a:avLst/>
            <a:gdLst/>
            <a:ahLst/>
            <a:cxnLst/>
            <a:rect l="l" t="t" r="r" b="b"/>
            <a:pathLst>
              <a:path w="3500096" h="5159898">
                <a:moveTo>
                  <a:pt x="0" y="0"/>
                </a:moveTo>
                <a:lnTo>
                  <a:pt x="3500096" y="0"/>
                </a:lnTo>
                <a:lnTo>
                  <a:pt x="3500096" y="5159898"/>
                </a:lnTo>
                <a:lnTo>
                  <a:pt x="0" y="51598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859536" y="322606"/>
            <a:ext cx="2212848" cy="16804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070"/>
              </a:lnSpc>
            </a:pPr>
            <a:r>
              <a:rPr lang="en-US" sz="9336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THE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59536" y="1462605"/>
            <a:ext cx="5870448" cy="1652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878"/>
              </a:lnSpc>
            </a:pPr>
            <a:r>
              <a:rPr lang="en-US" sz="9199" b="1">
                <a:solidFill>
                  <a:srgbClr val="B72525"/>
                </a:solidFill>
                <a:latin typeface="Poppins Bold"/>
                <a:ea typeface="Poppins Bold"/>
                <a:cs typeface="Poppins Bold"/>
                <a:sym typeface="Poppins Bold"/>
              </a:rPr>
              <a:t>SOLUTION</a:t>
            </a:r>
          </a:p>
        </p:txBody>
      </p:sp>
      <p:sp>
        <p:nvSpPr>
          <p:cNvPr id="7" name="Freeform 7"/>
          <p:cNvSpPr/>
          <p:nvPr/>
        </p:nvSpPr>
        <p:spPr>
          <a:xfrm>
            <a:off x="864086" y="2995365"/>
            <a:ext cx="1323474" cy="437279"/>
          </a:xfrm>
          <a:custGeom>
            <a:avLst/>
            <a:gdLst/>
            <a:ahLst/>
            <a:cxnLst/>
            <a:rect l="l" t="t" r="r" b="b"/>
            <a:pathLst>
              <a:path w="1323474" h="437279">
                <a:moveTo>
                  <a:pt x="0" y="0"/>
                </a:moveTo>
                <a:lnTo>
                  <a:pt x="1323474" y="0"/>
                </a:lnTo>
                <a:lnTo>
                  <a:pt x="1323474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914400" y="3697116"/>
            <a:ext cx="5303520" cy="9801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208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Crisis Desk gives event teams a </a:t>
            </a:r>
            <a:r>
              <a:rPr lang="en-US" sz="2088" b="1">
                <a:solidFill>
                  <a:srgbClr val="B72525"/>
                </a:solidFill>
                <a:latin typeface="Inter Bold"/>
                <a:ea typeface="Inter Bold"/>
                <a:cs typeface="Inter Bold"/>
                <a:sym typeface="Inter Bold"/>
              </a:rPr>
              <a:t>real-time Crisis Desk</a:t>
            </a:r>
            <a:r>
              <a:rPr lang="en-US" sz="208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to log, route and resolve incidents fast.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14400" y="5222332"/>
            <a:ext cx="3950208" cy="5852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4"/>
              </a:lnSpc>
            </a:pPr>
            <a:r>
              <a:rPr lang="en-US" sz="18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 dedicated real-time incident management platform for events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14400" y="6137307"/>
            <a:ext cx="4041648" cy="606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4"/>
              </a:lnSpc>
            </a:pPr>
            <a:r>
              <a:rPr lang="en-US" sz="187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Android app for field staff, web Command Center for event leads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14400" y="7009553"/>
            <a:ext cx="4279392" cy="3643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8"/>
              </a:lnSpc>
            </a:pPr>
            <a:r>
              <a:rPr lang="en-US" sz="221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Multi-channel alerts via SMS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14400" y="8943509"/>
            <a:ext cx="4224528" cy="7141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8"/>
              </a:lnSpc>
            </a:pPr>
            <a:r>
              <a:rPr lang="en-US" sz="221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Complete timeline and audit trail of every incident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706488" y="1497682"/>
            <a:ext cx="9373694" cy="7717983"/>
          </a:xfrm>
          <a:custGeom>
            <a:avLst/>
            <a:gdLst/>
            <a:ahLst/>
            <a:cxnLst/>
            <a:rect l="l" t="t" r="r" b="b"/>
            <a:pathLst>
              <a:path w="9373694" h="7717983">
                <a:moveTo>
                  <a:pt x="0" y="0"/>
                </a:moveTo>
                <a:lnTo>
                  <a:pt x="9373694" y="0"/>
                </a:lnTo>
                <a:lnTo>
                  <a:pt x="9373694" y="7717983"/>
                </a:lnTo>
                <a:lnTo>
                  <a:pt x="0" y="77179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566928" y="803433"/>
            <a:ext cx="4096512" cy="13180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220"/>
              </a:lnSpc>
            </a:pPr>
            <a:r>
              <a:rPr lang="en-US" sz="9220" b="1" spc="-27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HOW IT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66928" y="1908329"/>
            <a:ext cx="4645152" cy="1401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868"/>
              </a:lnSpc>
            </a:pPr>
            <a:r>
              <a:rPr lang="en-US" sz="9868" b="1" spc="-296">
                <a:solidFill>
                  <a:srgbClr val="B61010"/>
                </a:solidFill>
                <a:latin typeface="Poppins Bold"/>
                <a:ea typeface="Poppins Bold"/>
                <a:cs typeface="Poppins Bold"/>
                <a:sym typeface="Poppins Bold"/>
              </a:rPr>
              <a:t>WORKS</a:t>
            </a:r>
          </a:p>
        </p:txBody>
      </p:sp>
      <p:sp>
        <p:nvSpPr>
          <p:cNvPr id="6" name="Freeform 6"/>
          <p:cNvSpPr/>
          <p:nvPr/>
        </p:nvSpPr>
        <p:spPr>
          <a:xfrm>
            <a:off x="426574" y="3214004"/>
            <a:ext cx="1542230" cy="437279"/>
          </a:xfrm>
          <a:custGeom>
            <a:avLst/>
            <a:gdLst/>
            <a:ahLst/>
            <a:cxnLst/>
            <a:rect l="l" t="t" r="r" b="b"/>
            <a:pathLst>
              <a:path w="1542230" h="437279">
                <a:moveTo>
                  <a:pt x="0" y="0"/>
                </a:moveTo>
                <a:lnTo>
                  <a:pt x="1542230" y="0"/>
                </a:lnTo>
                <a:lnTo>
                  <a:pt x="1542230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739110" y="4066699"/>
            <a:ext cx="1093780" cy="437279"/>
          </a:xfrm>
          <a:custGeom>
            <a:avLst/>
            <a:gdLst/>
            <a:ahLst/>
            <a:cxnLst/>
            <a:rect l="l" t="t" r="r" b="b"/>
            <a:pathLst>
              <a:path w="1093780" h="437279">
                <a:moveTo>
                  <a:pt x="0" y="0"/>
                </a:moveTo>
                <a:lnTo>
                  <a:pt x="1093780" y="0"/>
                </a:lnTo>
                <a:lnTo>
                  <a:pt x="1093780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512064" y="5043216"/>
            <a:ext cx="1499616" cy="22206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47"/>
              </a:lnSpc>
            </a:pPr>
            <a:r>
              <a:rPr lang="en-US" sz="181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Field staff log an incident in under 20 seconds via app, web, or USSD</a:t>
            </a:r>
          </a:p>
        </p:txBody>
      </p:sp>
      <p:sp>
        <p:nvSpPr>
          <p:cNvPr id="9" name="Freeform 9"/>
          <p:cNvSpPr/>
          <p:nvPr/>
        </p:nvSpPr>
        <p:spPr>
          <a:xfrm>
            <a:off x="2176622" y="4919394"/>
            <a:ext cx="218756" cy="2372241"/>
          </a:xfrm>
          <a:custGeom>
            <a:avLst/>
            <a:gdLst/>
            <a:ahLst/>
            <a:cxnLst/>
            <a:rect l="l" t="t" r="r" b="b"/>
            <a:pathLst>
              <a:path w="218756" h="2372241">
                <a:moveTo>
                  <a:pt x="0" y="0"/>
                </a:moveTo>
                <a:lnTo>
                  <a:pt x="218756" y="0"/>
                </a:lnTo>
                <a:lnTo>
                  <a:pt x="218756" y="2372241"/>
                </a:lnTo>
                <a:lnTo>
                  <a:pt x="0" y="237224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3163824" y="3926962"/>
            <a:ext cx="475488" cy="930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37"/>
              </a:lnSpc>
            </a:pPr>
            <a:r>
              <a:rPr lang="en-US" sz="7037" b="1" spc="-211">
                <a:solidFill>
                  <a:srgbClr val="B61010"/>
                </a:solidFill>
                <a:latin typeface="Inter Bold"/>
                <a:ea typeface="Inter Bold"/>
                <a:cs typeface="Inter Bold"/>
                <a:sym typeface="Inter Bold"/>
              </a:rPr>
              <a:t>2</a:t>
            </a:r>
          </a:p>
        </p:txBody>
      </p:sp>
      <p:sp>
        <p:nvSpPr>
          <p:cNvPr id="11" name="Freeform 11"/>
          <p:cNvSpPr/>
          <p:nvPr/>
        </p:nvSpPr>
        <p:spPr>
          <a:xfrm>
            <a:off x="3915732" y="4066699"/>
            <a:ext cx="1093780" cy="437279"/>
          </a:xfrm>
          <a:custGeom>
            <a:avLst/>
            <a:gdLst/>
            <a:ahLst/>
            <a:cxnLst/>
            <a:rect l="l" t="t" r="r" b="b"/>
            <a:pathLst>
              <a:path w="1093780" h="437279">
                <a:moveTo>
                  <a:pt x="0" y="0"/>
                </a:moveTo>
                <a:lnTo>
                  <a:pt x="1093780" y="0"/>
                </a:lnTo>
                <a:lnTo>
                  <a:pt x="1093780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2596896" y="5840359"/>
            <a:ext cx="1609344" cy="10362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99"/>
              </a:lnSpc>
            </a:pPr>
            <a:r>
              <a:rPr lang="en-US" sz="121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System auto-notifies the right people by SMS, push, or voice call escalation for critical issues</a:t>
            </a:r>
          </a:p>
        </p:txBody>
      </p:sp>
      <p:sp>
        <p:nvSpPr>
          <p:cNvPr id="13" name="Freeform 13"/>
          <p:cNvSpPr/>
          <p:nvPr/>
        </p:nvSpPr>
        <p:spPr>
          <a:xfrm>
            <a:off x="4353244" y="4919394"/>
            <a:ext cx="218756" cy="2372241"/>
          </a:xfrm>
          <a:custGeom>
            <a:avLst/>
            <a:gdLst/>
            <a:ahLst/>
            <a:cxnLst/>
            <a:rect l="l" t="t" r="r" b="b"/>
            <a:pathLst>
              <a:path w="218756" h="2372241">
                <a:moveTo>
                  <a:pt x="0" y="0"/>
                </a:moveTo>
                <a:lnTo>
                  <a:pt x="218756" y="0"/>
                </a:lnTo>
                <a:lnTo>
                  <a:pt x="218756" y="2372241"/>
                </a:lnTo>
                <a:lnTo>
                  <a:pt x="0" y="237224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5340096" y="3926962"/>
            <a:ext cx="475488" cy="930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37"/>
              </a:lnSpc>
            </a:pPr>
            <a:r>
              <a:rPr lang="en-US" sz="7037" b="1" spc="-211">
                <a:solidFill>
                  <a:srgbClr val="B61010"/>
                </a:solidFill>
                <a:latin typeface="Inter Bold"/>
                <a:ea typeface="Inter Bold"/>
                <a:cs typeface="Inter Bold"/>
                <a:sym typeface="Inter Bold"/>
              </a:rPr>
              <a:t>3</a:t>
            </a:r>
          </a:p>
        </p:txBody>
      </p:sp>
      <p:sp>
        <p:nvSpPr>
          <p:cNvPr id="15" name="Freeform 15"/>
          <p:cNvSpPr/>
          <p:nvPr/>
        </p:nvSpPr>
        <p:spPr>
          <a:xfrm>
            <a:off x="6092354" y="4066699"/>
            <a:ext cx="1093780" cy="437279"/>
          </a:xfrm>
          <a:custGeom>
            <a:avLst/>
            <a:gdLst/>
            <a:ahLst/>
            <a:cxnLst/>
            <a:rect l="l" t="t" r="r" b="b"/>
            <a:pathLst>
              <a:path w="1093780" h="437279">
                <a:moveTo>
                  <a:pt x="0" y="0"/>
                </a:moveTo>
                <a:lnTo>
                  <a:pt x="1093780" y="0"/>
                </a:lnTo>
                <a:lnTo>
                  <a:pt x="1093780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4882896" y="5027927"/>
            <a:ext cx="1426464" cy="2632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Event Lead assigns and tracks status live on the Command Center dashboard</a:t>
            </a:r>
          </a:p>
        </p:txBody>
      </p:sp>
      <p:sp>
        <p:nvSpPr>
          <p:cNvPr id="17" name="Freeform 17"/>
          <p:cNvSpPr/>
          <p:nvPr/>
        </p:nvSpPr>
        <p:spPr>
          <a:xfrm>
            <a:off x="6529866" y="4919394"/>
            <a:ext cx="229694" cy="2372241"/>
          </a:xfrm>
          <a:custGeom>
            <a:avLst/>
            <a:gdLst/>
            <a:ahLst/>
            <a:cxnLst/>
            <a:rect l="l" t="t" r="r" b="b"/>
            <a:pathLst>
              <a:path w="229694" h="2372241">
                <a:moveTo>
                  <a:pt x="0" y="0"/>
                </a:moveTo>
                <a:lnTo>
                  <a:pt x="229694" y="0"/>
                </a:lnTo>
                <a:lnTo>
                  <a:pt x="229694" y="2372241"/>
                </a:lnTo>
                <a:lnTo>
                  <a:pt x="0" y="237224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8050220" y="4066699"/>
            <a:ext cx="1093780" cy="437279"/>
          </a:xfrm>
          <a:custGeom>
            <a:avLst/>
            <a:gdLst/>
            <a:ahLst/>
            <a:cxnLst/>
            <a:rect l="l" t="t" r="r" b="b"/>
            <a:pathLst>
              <a:path w="1093780" h="437279">
                <a:moveTo>
                  <a:pt x="0" y="0"/>
                </a:moveTo>
                <a:lnTo>
                  <a:pt x="1093780" y="0"/>
                </a:lnTo>
                <a:lnTo>
                  <a:pt x="1093780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6821424" y="5018078"/>
            <a:ext cx="1609344" cy="1489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7"/>
              </a:lnSpc>
            </a:pPr>
            <a:r>
              <a:rPr lang="en-US" sz="169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Team updates status and adds comments in real time</a:t>
            </a:r>
          </a:p>
        </p:txBody>
      </p:sp>
      <p:sp>
        <p:nvSpPr>
          <p:cNvPr id="20" name="Freeform 20"/>
          <p:cNvSpPr/>
          <p:nvPr/>
        </p:nvSpPr>
        <p:spPr>
          <a:xfrm>
            <a:off x="8706488" y="4919394"/>
            <a:ext cx="229694" cy="2372241"/>
          </a:xfrm>
          <a:custGeom>
            <a:avLst/>
            <a:gdLst/>
            <a:ahLst/>
            <a:cxnLst/>
            <a:rect l="l" t="t" r="r" b="b"/>
            <a:pathLst>
              <a:path w="229694" h="2372241">
                <a:moveTo>
                  <a:pt x="0" y="0"/>
                </a:moveTo>
                <a:lnTo>
                  <a:pt x="229694" y="0"/>
                </a:lnTo>
                <a:lnTo>
                  <a:pt x="229694" y="2372241"/>
                </a:lnTo>
                <a:lnTo>
                  <a:pt x="0" y="237224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9454896" y="3926962"/>
            <a:ext cx="493776" cy="930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37"/>
              </a:lnSpc>
            </a:pPr>
            <a:r>
              <a:rPr lang="en-US" sz="7037" b="1" spc="-211">
                <a:solidFill>
                  <a:srgbClr val="B61010"/>
                </a:solidFill>
                <a:latin typeface="Inter Bold"/>
                <a:ea typeface="Inter Bold"/>
                <a:cs typeface="Inter Bold"/>
                <a:sym typeface="Inter Bold"/>
              </a:rPr>
              <a:t>5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979408" y="5026850"/>
            <a:ext cx="1426464" cy="19036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47"/>
              </a:lnSpc>
            </a:pPr>
            <a:r>
              <a:rPr lang="en-US" sz="181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Resolution is recorded with notes, building a full audit trail</a:t>
            </a:r>
          </a:p>
        </p:txBody>
      </p:sp>
      <p:sp>
        <p:nvSpPr>
          <p:cNvPr id="23" name="Freeform 23"/>
          <p:cNvSpPr/>
          <p:nvPr/>
        </p:nvSpPr>
        <p:spPr>
          <a:xfrm>
            <a:off x="426574" y="8133399"/>
            <a:ext cx="10029962" cy="1727254"/>
          </a:xfrm>
          <a:custGeom>
            <a:avLst/>
            <a:gdLst/>
            <a:ahLst/>
            <a:cxnLst/>
            <a:rect l="l" t="t" r="r" b="b"/>
            <a:pathLst>
              <a:path w="10029962" h="1727254">
                <a:moveTo>
                  <a:pt x="0" y="0"/>
                </a:moveTo>
                <a:lnTo>
                  <a:pt x="10029962" y="0"/>
                </a:lnTo>
                <a:lnTo>
                  <a:pt x="10029962" y="1727253"/>
                </a:lnTo>
                <a:lnTo>
                  <a:pt x="0" y="172725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987552" y="8835267"/>
            <a:ext cx="1609344" cy="3465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7"/>
              </a:lnSpc>
            </a:pPr>
            <a:r>
              <a:rPr lang="en-US" sz="1948" b="1">
                <a:solidFill>
                  <a:srgbClr val="B61010"/>
                </a:solidFill>
                <a:latin typeface="Poppins Bold"/>
                <a:ea typeface="Poppins Bold"/>
                <a:cs typeface="Poppins Bold"/>
                <a:sym typeface="Poppins Bold"/>
              </a:rPr>
              <a:t>POWERED BY</a:t>
            </a:r>
          </a:p>
        </p:txBody>
      </p:sp>
      <p:sp>
        <p:nvSpPr>
          <p:cNvPr id="25" name="Freeform 25"/>
          <p:cNvSpPr/>
          <p:nvPr/>
        </p:nvSpPr>
        <p:spPr>
          <a:xfrm>
            <a:off x="3040708" y="8570678"/>
            <a:ext cx="229694" cy="863627"/>
          </a:xfrm>
          <a:custGeom>
            <a:avLst/>
            <a:gdLst/>
            <a:ahLst/>
            <a:cxnLst/>
            <a:rect l="l" t="t" r="r" b="b"/>
            <a:pathLst>
              <a:path w="229694" h="863627">
                <a:moveTo>
                  <a:pt x="0" y="0"/>
                </a:moveTo>
                <a:lnTo>
                  <a:pt x="229694" y="0"/>
                </a:lnTo>
                <a:lnTo>
                  <a:pt x="229694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3584448" y="8588982"/>
            <a:ext cx="1426464" cy="4600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49"/>
              </a:lnSpc>
            </a:pPr>
            <a:r>
              <a:rPr lang="en-US" sz="2535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Firebase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3584448" y="9063373"/>
            <a:ext cx="2871216" cy="290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64"/>
              </a:lnSpc>
            </a:pPr>
            <a:r>
              <a:rPr lang="en-US" sz="161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(Firestore, Cloud Functions)</a:t>
            </a:r>
          </a:p>
        </p:txBody>
      </p:sp>
      <p:sp>
        <p:nvSpPr>
          <p:cNvPr id="28" name="Freeform 28"/>
          <p:cNvSpPr/>
          <p:nvPr/>
        </p:nvSpPr>
        <p:spPr>
          <a:xfrm>
            <a:off x="6748622" y="8570678"/>
            <a:ext cx="218756" cy="863627"/>
          </a:xfrm>
          <a:custGeom>
            <a:avLst/>
            <a:gdLst/>
            <a:ahLst/>
            <a:cxnLst/>
            <a:rect l="l" t="t" r="r" b="b"/>
            <a:pathLst>
              <a:path w="218756" h="863627">
                <a:moveTo>
                  <a:pt x="0" y="0"/>
                </a:moveTo>
                <a:lnTo>
                  <a:pt x="218756" y="0"/>
                </a:lnTo>
                <a:lnTo>
                  <a:pt x="218756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29" name="TextBox 29"/>
          <p:cNvSpPr txBox="1"/>
          <p:nvPr/>
        </p:nvSpPr>
        <p:spPr>
          <a:xfrm>
            <a:off x="7370064" y="8608004"/>
            <a:ext cx="2487168" cy="431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91"/>
              </a:lnSpc>
            </a:pPr>
            <a:r>
              <a:rPr lang="en-US" sz="2422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Africa’s Talking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370064" y="9049407"/>
            <a:ext cx="2011680" cy="2918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7"/>
              </a:lnSpc>
            </a:pPr>
            <a:r>
              <a:rPr lang="en-US" sz="1698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(SMS)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42416" y="3926962"/>
            <a:ext cx="347472" cy="930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37"/>
              </a:lnSpc>
            </a:pPr>
            <a:r>
              <a:rPr lang="en-US" sz="7037" b="1" spc="-211">
                <a:solidFill>
                  <a:srgbClr val="B61010"/>
                </a:solidFill>
                <a:latin typeface="Inter Bold"/>
                <a:ea typeface="Inter Bold"/>
                <a:cs typeface="Inter Bold"/>
                <a:sym typeface="Inter Bold"/>
              </a:rPr>
              <a:t>1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424928" y="3926962"/>
            <a:ext cx="493776" cy="930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37"/>
              </a:lnSpc>
            </a:pPr>
            <a:r>
              <a:rPr lang="en-US" sz="7037" b="1" spc="-211">
                <a:solidFill>
                  <a:srgbClr val="B61010"/>
                </a:solidFill>
                <a:latin typeface="Inter Bold"/>
                <a:ea typeface="Inter Bold"/>
                <a:cs typeface="Inter Bold"/>
                <a:sym typeface="Inter Bold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570574" y="1924030"/>
            <a:ext cx="8072096" cy="6438940"/>
          </a:xfrm>
          <a:custGeom>
            <a:avLst/>
            <a:gdLst/>
            <a:ahLst/>
            <a:cxnLst/>
            <a:rect l="l" t="t" r="r" b="b"/>
            <a:pathLst>
              <a:path w="8072096" h="6438940">
                <a:moveTo>
                  <a:pt x="0" y="0"/>
                </a:moveTo>
                <a:lnTo>
                  <a:pt x="8072096" y="0"/>
                </a:lnTo>
                <a:lnTo>
                  <a:pt x="8072096" y="6438940"/>
                </a:lnTo>
                <a:lnTo>
                  <a:pt x="0" y="64389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226842" y="7925691"/>
            <a:ext cx="6103292" cy="2361309"/>
          </a:xfrm>
          <a:custGeom>
            <a:avLst/>
            <a:gdLst/>
            <a:ahLst/>
            <a:cxnLst/>
            <a:rect l="l" t="t" r="r" b="b"/>
            <a:pathLst>
              <a:path w="6103292" h="2361309">
                <a:moveTo>
                  <a:pt x="0" y="0"/>
                </a:moveTo>
                <a:lnTo>
                  <a:pt x="6103292" y="0"/>
                </a:lnTo>
                <a:lnTo>
                  <a:pt x="6103292" y="2361309"/>
                </a:lnTo>
                <a:lnTo>
                  <a:pt x="0" y="236130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2403464" y="8352038"/>
            <a:ext cx="2843828" cy="1082267"/>
          </a:xfrm>
          <a:custGeom>
            <a:avLst/>
            <a:gdLst/>
            <a:ahLst/>
            <a:cxnLst/>
            <a:rect l="l" t="t" r="r" b="b"/>
            <a:pathLst>
              <a:path w="2843828" h="1082267">
                <a:moveTo>
                  <a:pt x="0" y="0"/>
                </a:moveTo>
                <a:lnTo>
                  <a:pt x="2843828" y="0"/>
                </a:lnTo>
                <a:lnTo>
                  <a:pt x="2843828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658368" y="811685"/>
            <a:ext cx="5705856" cy="1332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355"/>
              </a:lnSpc>
            </a:pPr>
            <a:r>
              <a:rPr lang="en-US" sz="9355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BUSINESS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675120" y="775774"/>
            <a:ext cx="4352544" cy="1413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920"/>
              </a:lnSpc>
            </a:pPr>
            <a:r>
              <a:rPr lang="en-US" sz="9920" b="1">
                <a:solidFill>
                  <a:srgbClr val="E12C2C"/>
                </a:solidFill>
                <a:latin typeface="Poppins Bold"/>
                <a:ea typeface="Poppins Bold"/>
                <a:cs typeface="Poppins Bold"/>
                <a:sym typeface="Poppins Bold"/>
              </a:rPr>
              <a:t>MODEL</a:t>
            </a:r>
          </a:p>
        </p:txBody>
      </p:sp>
      <p:sp>
        <p:nvSpPr>
          <p:cNvPr id="8" name="Freeform 8"/>
          <p:cNvSpPr/>
          <p:nvPr/>
        </p:nvSpPr>
        <p:spPr>
          <a:xfrm>
            <a:off x="645330" y="2142670"/>
            <a:ext cx="1542230" cy="437279"/>
          </a:xfrm>
          <a:custGeom>
            <a:avLst/>
            <a:gdLst/>
            <a:ahLst/>
            <a:cxnLst/>
            <a:rect l="l" t="t" r="r" b="b"/>
            <a:pathLst>
              <a:path w="1542230" h="437279">
                <a:moveTo>
                  <a:pt x="0" y="0"/>
                </a:moveTo>
                <a:lnTo>
                  <a:pt x="1542230" y="0"/>
                </a:lnTo>
                <a:lnTo>
                  <a:pt x="154223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713232" y="2634611"/>
            <a:ext cx="7680960" cy="4960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29"/>
              </a:lnSpc>
            </a:pPr>
            <a:r>
              <a:rPr lang="en-US" sz="294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Simple, scalable pricing built for live events</a:t>
            </a:r>
          </a:p>
        </p:txBody>
      </p:sp>
      <p:sp>
        <p:nvSpPr>
          <p:cNvPr id="10" name="Freeform 10"/>
          <p:cNvSpPr/>
          <p:nvPr/>
        </p:nvSpPr>
        <p:spPr>
          <a:xfrm>
            <a:off x="645330" y="3640352"/>
            <a:ext cx="3281340" cy="3224936"/>
          </a:xfrm>
          <a:custGeom>
            <a:avLst/>
            <a:gdLst/>
            <a:ahLst/>
            <a:cxnLst/>
            <a:rect l="l" t="t" r="r" b="b"/>
            <a:pathLst>
              <a:path w="3281340" h="3224936">
                <a:moveTo>
                  <a:pt x="0" y="0"/>
                </a:moveTo>
                <a:lnTo>
                  <a:pt x="3281340" y="0"/>
                </a:lnTo>
                <a:lnTo>
                  <a:pt x="3281340" y="3224936"/>
                </a:lnTo>
                <a:lnTo>
                  <a:pt x="0" y="322493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969264" y="4137187"/>
            <a:ext cx="1609344" cy="402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61"/>
              </a:lnSpc>
            </a:pPr>
            <a:r>
              <a:rPr lang="en-US" sz="2258" b="1">
                <a:solidFill>
                  <a:srgbClr val="E12C2C"/>
                </a:solidFill>
                <a:latin typeface="Poppins Bold"/>
                <a:ea typeface="Poppins Bold"/>
                <a:cs typeface="Poppins Bold"/>
                <a:sym typeface="Poppins Bold"/>
              </a:rPr>
              <a:t>PER-EVENT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69264" y="4907273"/>
            <a:ext cx="2670048" cy="11163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51"/>
              </a:lnSpc>
            </a:pPr>
            <a:r>
              <a:rPr lang="en-US" sz="196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Flat fee per live event based on team size and duration</a:t>
            </a:r>
          </a:p>
        </p:txBody>
      </p:sp>
      <p:sp>
        <p:nvSpPr>
          <p:cNvPr id="13" name="Freeform 13"/>
          <p:cNvSpPr/>
          <p:nvPr/>
        </p:nvSpPr>
        <p:spPr>
          <a:xfrm>
            <a:off x="3696976" y="4919394"/>
            <a:ext cx="667206" cy="655919"/>
          </a:xfrm>
          <a:custGeom>
            <a:avLst/>
            <a:gdLst/>
            <a:ahLst/>
            <a:cxnLst/>
            <a:rect l="l" t="t" r="r" b="b"/>
            <a:pathLst>
              <a:path w="667206" h="655919">
                <a:moveTo>
                  <a:pt x="0" y="0"/>
                </a:moveTo>
                <a:lnTo>
                  <a:pt x="667206" y="0"/>
                </a:lnTo>
                <a:lnTo>
                  <a:pt x="66720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4134488" y="3640352"/>
            <a:ext cx="3707914" cy="3224936"/>
          </a:xfrm>
          <a:custGeom>
            <a:avLst/>
            <a:gdLst/>
            <a:ahLst/>
            <a:cxnLst/>
            <a:rect l="l" t="t" r="r" b="b"/>
            <a:pathLst>
              <a:path w="3707914" h="3224936">
                <a:moveTo>
                  <a:pt x="0" y="0"/>
                </a:moveTo>
                <a:lnTo>
                  <a:pt x="3707914" y="0"/>
                </a:lnTo>
                <a:lnTo>
                  <a:pt x="3707914" y="3224936"/>
                </a:lnTo>
                <a:lnTo>
                  <a:pt x="0" y="322493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4626864" y="4151426"/>
            <a:ext cx="2999232" cy="383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8"/>
              </a:lnSpc>
            </a:pPr>
            <a:r>
              <a:rPr lang="en-US" sz="2198" b="1">
                <a:solidFill>
                  <a:srgbClr val="E12C2C"/>
                </a:solidFill>
                <a:latin typeface="Poppins Bold"/>
                <a:ea typeface="Poppins Bold"/>
                <a:cs typeface="Poppins Bold"/>
                <a:sym typeface="Poppins Bold"/>
              </a:rPr>
              <a:t>SEASON / ENTERPRISE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626864" y="4907760"/>
            <a:ext cx="2340864" cy="11153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89"/>
              </a:lnSpc>
            </a:pPr>
            <a:r>
              <a:rPr lang="en-US" sz="199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Plans for agencies running multiple events per year</a:t>
            </a:r>
          </a:p>
        </p:txBody>
      </p:sp>
      <p:sp>
        <p:nvSpPr>
          <p:cNvPr id="17" name="Freeform 17"/>
          <p:cNvSpPr/>
          <p:nvPr/>
        </p:nvSpPr>
        <p:spPr>
          <a:xfrm>
            <a:off x="7612708" y="4919394"/>
            <a:ext cx="667206" cy="655919"/>
          </a:xfrm>
          <a:custGeom>
            <a:avLst/>
            <a:gdLst/>
            <a:ahLst/>
            <a:cxnLst/>
            <a:rect l="l" t="t" r="r" b="b"/>
            <a:pathLst>
              <a:path w="667206" h="655919">
                <a:moveTo>
                  <a:pt x="0" y="0"/>
                </a:moveTo>
                <a:lnTo>
                  <a:pt x="667206" y="0"/>
                </a:lnTo>
                <a:lnTo>
                  <a:pt x="66720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8050220" y="3640352"/>
            <a:ext cx="3489158" cy="3224936"/>
          </a:xfrm>
          <a:custGeom>
            <a:avLst/>
            <a:gdLst/>
            <a:ahLst/>
            <a:cxnLst/>
            <a:rect l="l" t="t" r="r" b="b"/>
            <a:pathLst>
              <a:path w="3489158" h="3224936">
                <a:moveTo>
                  <a:pt x="0" y="0"/>
                </a:moveTo>
                <a:lnTo>
                  <a:pt x="3489158" y="0"/>
                </a:lnTo>
                <a:lnTo>
                  <a:pt x="3489158" y="3224936"/>
                </a:lnTo>
                <a:lnTo>
                  <a:pt x="0" y="322493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8503920" y="4141525"/>
            <a:ext cx="2487168" cy="394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6"/>
              </a:lnSpc>
            </a:pPr>
            <a:r>
              <a:rPr lang="en-US" sz="2169" b="1">
                <a:solidFill>
                  <a:srgbClr val="E12C2C"/>
                </a:solidFill>
                <a:latin typeface="Poppins Bold"/>
                <a:ea typeface="Poppins Bold"/>
                <a:cs typeface="Poppins Bold"/>
                <a:sym typeface="Poppins Bold"/>
              </a:rPr>
              <a:t>ADD-ON REVENUE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503920" y="5260135"/>
            <a:ext cx="2194560" cy="439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SMS/Voice usage via Africa’s Talking pass-through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13232" y="7340396"/>
            <a:ext cx="2139696" cy="383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8"/>
              </a:lnSpc>
            </a:pPr>
            <a:r>
              <a:rPr lang="en-US" sz="2198" b="1">
                <a:solidFill>
                  <a:srgbClr val="E12C2C"/>
                </a:solidFill>
                <a:latin typeface="Poppins Bold"/>
                <a:ea typeface="Poppins Bold"/>
                <a:cs typeface="Poppins Bold"/>
                <a:sym typeface="Poppins Bold"/>
              </a:rPr>
              <a:t>WHO WE SERVE</a:t>
            </a:r>
          </a:p>
        </p:txBody>
      </p:sp>
      <p:sp>
        <p:nvSpPr>
          <p:cNvPr id="22" name="Freeform 22"/>
          <p:cNvSpPr/>
          <p:nvPr/>
        </p:nvSpPr>
        <p:spPr>
          <a:xfrm>
            <a:off x="4779818" y="7280704"/>
            <a:ext cx="229694" cy="2372241"/>
          </a:xfrm>
          <a:custGeom>
            <a:avLst/>
            <a:gdLst/>
            <a:ahLst/>
            <a:cxnLst/>
            <a:rect l="l" t="t" r="r" b="b"/>
            <a:pathLst>
              <a:path w="229694" h="2372241">
                <a:moveTo>
                  <a:pt x="0" y="0"/>
                </a:moveTo>
                <a:lnTo>
                  <a:pt x="229694" y="0"/>
                </a:lnTo>
                <a:lnTo>
                  <a:pt x="229694" y="2372241"/>
                </a:lnTo>
                <a:lnTo>
                  <a:pt x="0" y="237224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5614416" y="7326157"/>
            <a:ext cx="2157984" cy="402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61"/>
              </a:lnSpc>
            </a:pPr>
            <a:r>
              <a:rPr lang="en-US" sz="2258" b="1">
                <a:solidFill>
                  <a:srgbClr val="E12C2C"/>
                </a:solidFill>
                <a:latin typeface="Poppins Bold"/>
                <a:ea typeface="Poppins Bold"/>
                <a:cs typeface="Poppins Bold"/>
                <a:sym typeface="Poppins Bold"/>
              </a:rPr>
              <a:t>FUTURE UPSIDE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13232" y="7988788"/>
            <a:ext cx="3584448" cy="842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03"/>
              </a:lnSpc>
            </a:pPr>
            <a:r>
              <a:rPr lang="en-US" sz="189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Event management agencies</a:t>
            </a:r>
          </a:p>
          <a:p>
            <a:pPr algn="l">
              <a:lnSpc>
                <a:spcPts val="3403"/>
              </a:lnSpc>
            </a:pPr>
            <a:r>
              <a:rPr lang="en-US" sz="189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Conference organizers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614416" y="7970818"/>
            <a:ext cx="2743200" cy="8779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87"/>
              </a:lnSpc>
            </a:pPr>
            <a:r>
              <a:rPr lang="en-US" sz="199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AI-powered response recommendations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13232" y="9088715"/>
            <a:ext cx="2231136" cy="432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31"/>
              </a:lnSpc>
            </a:pPr>
            <a:r>
              <a:rPr lang="en-US" sz="196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Festival operators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614416" y="9102578"/>
            <a:ext cx="2670048" cy="4139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8"/>
              </a:lnSpc>
            </a:pPr>
            <a:r>
              <a:rPr lang="en-US" sz="193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Analytics dashboards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528440" y="3214004"/>
            <a:ext cx="5239206" cy="7072996"/>
          </a:xfrm>
          <a:custGeom>
            <a:avLst/>
            <a:gdLst/>
            <a:ahLst/>
            <a:cxnLst/>
            <a:rect l="l" t="t" r="r" b="b"/>
            <a:pathLst>
              <a:path w="5239206" h="7072996">
                <a:moveTo>
                  <a:pt x="0" y="0"/>
                </a:moveTo>
                <a:lnTo>
                  <a:pt x="5239206" y="0"/>
                </a:lnTo>
                <a:lnTo>
                  <a:pt x="5239206" y="7072996"/>
                </a:lnTo>
                <a:lnTo>
                  <a:pt x="0" y="70729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676656" y="1243317"/>
            <a:ext cx="9253728" cy="17630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71"/>
              </a:lnSpc>
            </a:pPr>
            <a:r>
              <a:rPr lang="en-US" sz="12371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</a:t>
            </a:r>
          </a:p>
        </p:txBody>
      </p:sp>
      <p:sp>
        <p:nvSpPr>
          <p:cNvPr id="5" name="Freeform 5"/>
          <p:cNvSpPr/>
          <p:nvPr/>
        </p:nvSpPr>
        <p:spPr>
          <a:xfrm>
            <a:off x="645330" y="3214004"/>
            <a:ext cx="2406316" cy="218640"/>
          </a:xfrm>
          <a:custGeom>
            <a:avLst/>
            <a:gdLst/>
            <a:ahLst/>
            <a:cxnLst/>
            <a:rect l="l" t="t" r="r" b="b"/>
            <a:pathLst>
              <a:path w="2406316" h="218640">
                <a:moveTo>
                  <a:pt x="0" y="0"/>
                </a:moveTo>
                <a:lnTo>
                  <a:pt x="2406316" y="0"/>
                </a:lnTo>
                <a:lnTo>
                  <a:pt x="2406316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768096" y="3767207"/>
            <a:ext cx="8302752" cy="2487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29"/>
              </a:lnSpc>
            </a:pPr>
            <a:r>
              <a:rPr lang="en-US" sz="5303" b="1">
                <a:solidFill>
                  <a:srgbClr val="C62A2A"/>
                </a:solidFill>
                <a:latin typeface="Inter Bold"/>
                <a:ea typeface="Inter Bold"/>
                <a:cs typeface="Inter Bold"/>
                <a:sym typeface="Inter Bold"/>
              </a:rPr>
              <a:t>Crisis Desk</a:t>
            </a:r>
            <a:r>
              <a:rPr lang="en-US" sz="530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helps you expect the unexpected. Respond with confidence.</a:t>
            </a:r>
          </a:p>
        </p:txBody>
      </p:sp>
      <p:sp>
        <p:nvSpPr>
          <p:cNvPr id="7" name="Freeform 7"/>
          <p:cNvSpPr/>
          <p:nvPr/>
        </p:nvSpPr>
        <p:spPr>
          <a:xfrm>
            <a:off x="645330" y="6635716"/>
            <a:ext cx="8717426" cy="229572"/>
          </a:xfrm>
          <a:custGeom>
            <a:avLst/>
            <a:gdLst/>
            <a:ahLst/>
            <a:cxnLst/>
            <a:rect l="l" t="t" r="r" b="b"/>
            <a:pathLst>
              <a:path w="8717426" h="229572">
                <a:moveTo>
                  <a:pt x="0" y="0"/>
                </a:moveTo>
                <a:lnTo>
                  <a:pt x="8717426" y="0"/>
                </a:lnTo>
                <a:lnTo>
                  <a:pt x="8717426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768096" y="7167792"/>
            <a:ext cx="7717536" cy="14332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36"/>
              </a:lnSpc>
            </a:pPr>
            <a:r>
              <a:rPr lang="en-US" sz="402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Let’s talk about bringing </a:t>
            </a:r>
            <a:r>
              <a:rPr lang="en-US" sz="4026" b="1">
                <a:solidFill>
                  <a:srgbClr val="C62A2A"/>
                </a:solidFill>
                <a:latin typeface="Poppins Bold"/>
                <a:ea typeface="Poppins Bold"/>
                <a:cs typeface="Poppins Bold"/>
                <a:sym typeface="Poppins Bold"/>
              </a:rPr>
              <a:t>Crisis Desk</a:t>
            </a:r>
            <a:r>
              <a:rPr lang="en-US" sz="402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to your next event.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319</Words>
  <Application>Microsoft Office PowerPoint</Application>
  <PresentationFormat>Custom</PresentationFormat>
  <Paragraphs>56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Inter</vt:lpstr>
      <vt:lpstr>Poppins Bold</vt:lpstr>
      <vt:lpstr>Poppins</vt:lpstr>
      <vt:lpstr>Arial</vt:lpstr>
      <vt:lpstr>Inter Medium</vt:lpstr>
      <vt:lpstr>Calibri</vt:lpstr>
      <vt:lpstr>Inter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Crisis Desk Pitch</dc:title>
  <cp:lastModifiedBy>Malaika Tess</cp:lastModifiedBy>
  <cp:revision>2</cp:revision>
  <dcterms:created xsi:type="dcterms:W3CDTF">2006-08-16T00:00:00Z</dcterms:created>
  <dcterms:modified xsi:type="dcterms:W3CDTF">2026-09-26T14:29:03Z</dcterms:modified>
  <dc:identifier>DAHWTcmhBAM</dc:identifier>
</cp:coreProperties>
</file>